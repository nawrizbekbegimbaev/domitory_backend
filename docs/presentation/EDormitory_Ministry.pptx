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1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-2286000"/>
            <a:ext cx="7315200" cy="7315200"/>
          </a:xfrm>
          <a:prstGeom prst="ellipse">
            <a:avLst/>
          </a:prstGeom>
          <a:solidFill>
            <a:srgbClr val="0A4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FFFFFF"/>
                </a:solidFill>
                <a:latin typeface="Calibri"/>
              </a:rPr>
              <a:t>EDormitory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14600"/>
            <a:ext cx="66751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9FBBD3"/>
                </a:solidFill>
                <a:latin typeface="Calibri"/>
              </a:rPr>
              <a:t>by Naurizbek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63240"/>
            <a:ext cx="6949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C7D9EA"/>
                </a:solidFill>
                <a:latin typeface="Calibri"/>
              </a:rPr>
              <a:t>Цифровое общежитие: от заселения до оплаты в одной системе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676656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FBBD3"/>
                </a:solidFill>
                <a:latin typeface="Calibri"/>
              </a:rPr>
              <a:t>Платформа учёта студенческих общежитий для вузов и Министерства высшего образования, науки и инноваций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5257800"/>
            <a:ext cx="914400" cy="45720"/>
          </a:xfrm>
          <a:prstGeom prst="rect">
            <a:avLst/>
          </a:prstGeom>
          <a:solidFill>
            <a:srgbClr val="2B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394960"/>
            <a:ext cx="68580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Наврузбек Бегимбаев, основатель и разработчик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6858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BD3"/>
                </a:solidFill>
                <a:latin typeface="Calibri"/>
              </a:rPr>
              <a:t>begimbaev-dormitory.uk   ·   nbegimbaev2006@gmail.com   ·   Ташкент, сентябрь 2026</a:t>
            </a:r>
          </a:p>
        </p:txBody>
      </p:sp>
      <p:sp>
        <p:nvSpPr>
          <p:cNvPr id="10" name="Rounded Rectangle 9"/>
          <p:cNvSpPr/>
          <p:nvPr/>
        </p:nvSpPr>
        <p:spPr>
          <a:xfrm rot="21360000">
            <a:off x="7626096" y="1602486"/>
            <a:ext cx="5779008" cy="36530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2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360000">
            <a:off x="7680960" y="1657350"/>
            <a:ext cx="5669280" cy="3543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03153"/>
                </a:solidFill>
                <a:latin typeface="Calibri"/>
              </a:rPr>
              <a:t>Проблема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822960" cy="45720"/>
          </a:xfrm>
          <a:prstGeom prst="rect">
            <a:avLst/>
          </a:prstGeom>
          <a:solidFill>
            <a:srgbClr val="2B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1556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Учёт общежитий в вузах до сих пор ведётся вручную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EDormitory by Naurizbek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356616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3566160" cy="64008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310896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B91C1C"/>
                </a:solidFill>
                <a:latin typeface="Calibri"/>
              </a:rPr>
              <a:t>≈ 90 000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31089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11827"/>
                </a:solidFill>
                <a:latin typeface="Calibri"/>
              </a:rPr>
              <a:t>студентов нуждаются в жилье только в Ташкенте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26080"/>
            <a:ext cx="310896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при вместимости общежитий около 45 800 мест. Каждое место на счету, а свободные места учитываются в тетрадях.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600200"/>
            <a:ext cx="356616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600200"/>
            <a:ext cx="3566160" cy="64008"/>
          </a:xfrm>
          <a:prstGeom prst="rect">
            <a:avLst/>
          </a:prstGeom>
          <a:solidFill>
            <a:srgbClr val="00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783080"/>
            <a:ext cx="310896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03153"/>
                </a:solidFill>
                <a:latin typeface="Calibri"/>
              </a:rPr>
              <a:t>Ежедневно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468880"/>
            <a:ext cx="31089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11827"/>
                </a:solidFill>
                <a:latin typeface="Calibri"/>
              </a:rPr>
              <a:t>обязанность вузов по ПКМ № 376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926080"/>
            <a:ext cx="310896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вузы должны ежедневно передавать в систему Минвуза данные об освободившихся местах. Сегодня это делается вручную, с опозданием и ошибками.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600200"/>
            <a:ext cx="356616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600200"/>
            <a:ext cx="3566160" cy="64008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783080"/>
            <a:ext cx="310896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B91C1C"/>
                </a:solidFill>
                <a:latin typeface="Calibri"/>
              </a:rPr>
              <a:t>0 систем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468880"/>
            <a:ext cx="31089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11827"/>
                </a:solidFill>
                <a:latin typeface="Calibri"/>
              </a:rPr>
              <a:t>тетради, Excel, бумажные квитанции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926080"/>
            <a:ext cx="310896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долги по оплате не видны, история проживания теряется, комендант тратит часы на сверку вместо работы со студентами.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977639"/>
            <a:ext cx="1106424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977639"/>
            <a:ext cx="73152" cy="22402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114800"/>
            <a:ext cx="1060704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b="1" sz="1400">
                <a:solidFill>
                  <a:srgbClr val="003153"/>
                </a:solidFill>
                <a:latin typeface="Calibri"/>
              </a:rPr>
              <a:t>•  Для студента:</a:t>
            </a:r>
            <a:r>
              <a:rPr sz="1400">
                <a:solidFill>
                  <a:srgbClr val="111827"/>
                </a:solidFill>
                <a:latin typeface="Calibri"/>
              </a:rPr>
              <a:t> непонятно, есть ли место, сколько он должен и за какой месяц; заселение занимает дни.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b="1" sz="1400">
                <a:solidFill>
                  <a:srgbClr val="003153"/>
                </a:solidFill>
                <a:latin typeface="Calibri"/>
              </a:rPr>
              <a:t>•  Для вуза:</a:t>
            </a:r>
            <a:r>
              <a:rPr sz="1400">
                <a:solidFill>
                  <a:srgbClr val="111827"/>
                </a:solidFill>
                <a:latin typeface="Calibri"/>
              </a:rPr>
              <a:t> нет актуальной картины по корпусам, переезды и выселения не фиксируются, сложно собрать долги.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b="1" sz="1400">
                <a:solidFill>
                  <a:srgbClr val="003153"/>
                </a:solidFill>
                <a:latin typeface="Calibri"/>
              </a:rPr>
              <a:t>•  Для министерства:</a:t>
            </a:r>
            <a:r>
              <a:rPr sz="1400">
                <a:solidFill>
                  <a:srgbClr val="111827"/>
                </a:solidFill>
                <a:latin typeface="Calibri"/>
              </a:rPr>
              <a:t> данные о местах и оплате приходят с задержкой, невозможно проверить их достоверность, нет единой статистики.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b="1" sz="1400">
                <a:solidFill>
                  <a:srgbClr val="003153"/>
                </a:solidFill>
                <a:latin typeface="Calibri"/>
              </a:rPr>
              <a:t>•  Госсистема my.gov.uz закрывает только заявку и очередь.</a:t>
            </a:r>
            <a:r>
              <a:rPr sz="1400">
                <a:solidFill>
                  <a:srgbClr val="111827"/>
                </a:solidFill>
                <a:latin typeface="Calibri"/>
              </a:rPr>
              <a:t> Всё, что происходит после направления в общежитие, остаётся вне цифрового учёта.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03153"/>
                </a:solidFill>
                <a:latin typeface="Calibri"/>
              </a:rPr>
              <a:t>Решение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822960" cy="45720"/>
          </a:xfrm>
          <a:prstGeom prst="rect">
            <a:avLst/>
          </a:prstGeom>
          <a:solidFill>
            <a:srgbClr val="2B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1556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EDormitory берёт на себя всё, что происходит после направления студента в общежитие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EDormitory by Naurizbek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11064240" cy="1234440"/>
          </a:xfrm>
          <a:prstGeom prst="roundRect">
            <a:avLst>
              <a:gd name="adj" fmla="val 8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73152" cy="1234440"/>
          </a:xfrm>
          <a:prstGeom prst="rect">
            <a:avLst/>
          </a:prstGeom>
          <a:solidFill>
            <a:srgbClr val="2B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45920"/>
            <a:ext cx="10607040" cy="11430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003153"/>
                </a:solidFill>
                <a:latin typeface="Calibri"/>
              </a:rPr>
              <a:t>Единая система, в которой комендант заселяет студента за две минуты, бухгалтер видит долги в реальном времени, а руководство и министерство получают достоверные данные о каждом месте, договоре и платеже без звонков и таблиц.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63240"/>
            <a:ext cx="26974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063240"/>
            <a:ext cx="2697480" cy="64008"/>
          </a:xfrm>
          <a:prstGeom prst="rect">
            <a:avLst/>
          </a:prstGeom>
          <a:solidFill>
            <a:srgbClr val="2B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3291840"/>
            <a:ext cx="457200" cy="457200"/>
          </a:xfrm>
          <a:prstGeom prst="ellipse">
            <a:avLst/>
          </a:prstGeom>
          <a:solidFill>
            <a:srgbClr val="2B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9184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46120"/>
            <a:ext cx="169164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3153"/>
                </a:solidFill>
                <a:latin typeface="Calibri"/>
              </a:rPr>
              <a:t>Единый учёт проживания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977640"/>
            <a:ext cx="2240280" cy="1737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827"/>
                </a:solidFill>
                <a:latin typeface="Calibri"/>
              </a:rPr>
              <a:t>Корпуса, этажи, комнаты, жильцы, опекуны, документы, договоры, переезды и выселения. Каждое действие сохраняется в истории.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3063240"/>
            <a:ext cx="26974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83280" y="3063240"/>
            <a:ext cx="2697480" cy="64008"/>
          </a:xfrm>
          <a:prstGeom prst="rect">
            <a:avLst/>
          </a:prstGeom>
          <a:solidFill>
            <a:srgbClr val="2B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11880" y="3291840"/>
            <a:ext cx="457200" cy="457200"/>
          </a:xfrm>
          <a:prstGeom prst="ellipse">
            <a:avLst/>
          </a:prstGeom>
          <a:solidFill>
            <a:srgbClr val="2B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1880" y="329184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246120"/>
            <a:ext cx="169164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3153"/>
                </a:solidFill>
                <a:latin typeface="Calibri"/>
              </a:rPr>
              <a:t>Автоматические финансы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3977640"/>
            <a:ext cx="2240280" cy="1737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827"/>
                </a:solidFill>
                <a:latin typeface="Calibri"/>
              </a:rPr>
              <a:t>Начисления создаются сами при заселении, с точностью до дня. Платежи распределяются по месяцам, долги и переплаты считаются автоматически.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063240"/>
            <a:ext cx="26974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063240"/>
            <a:ext cx="2697480" cy="64008"/>
          </a:xfrm>
          <a:prstGeom prst="rect">
            <a:avLst/>
          </a:prstGeom>
          <a:solidFill>
            <a:srgbClr val="2B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46520" y="3291840"/>
            <a:ext cx="457200" cy="457200"/>
          </a:xfrm>
          <a:prstGeom prst="ellipse">
            <a:avLst/>
          </a:prstGeom>
          <a:solidFill>
            <a:srgbClr val="2B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29184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3246120"/>
            <a:ext cx="169164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3153"/>
                </a:solidFill>
                <a:latin typeface="Calibri"/>
              </a:rPr>
              <a:t>Прозрачность и контроль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977640"/>
            <a:ext cx="2240280" cy="1737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827"/>
                </a:solidFill>
                <a:latin typeface="Calibri"/>
              </a:rPr>
              <a:t>Пять ролей с разграничением прав, журнал аудита каждого изменения, отчёты по занятости, должникам и оплатам за любой период.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52560" y="3063240"/>
            <a:ext cx="26974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52560" y="3063240"/>
            <a:ext cx="2697480" cy="64008"/>
          </a:xfrm>
          <a:prstGeom prst="rect">
            <a:avLst/>
          </a:prstGeom>
          <a:solidFill>
            <a:srgbClr val="2B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281160" y="3291840"/>
            <a:ext cx="457200" cy="457200"/>
          </a:xfrm>
          <a:prstGeom prst="ellipse">
            <a:avLst/>
          </a:prstGeom>
          <a:solidFill>
            <a:srgbClr val="2B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81160" y="329184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3246120"/>
            <a:ext cx="169164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3153"/>
                </a:solidFill>
                <a:latin typeface="Calibri"/>
              </a:rPr>
              <a:t>Готовность к интеграции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3977640"/>
            <a:ext cx="2240280" cy="1737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827"/>
                </a:solidFill>
                <a:latin typeface="Calibri"/>
              </a:rPr>
              <a:t>Открытый API: my.gov.uz и HEMIS для импорта студентов и выгрузки мест, 1С для бухгалтерии, Payme и Click для оплаты.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03153"/>
                </a:solidFill>
                <a:latin typeface="Calibri"/>
              </a:rPr>
              <a:t>Заселение: было и стало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822960" cy="45720"/>
          </a:xfrm>
          <a:prstGeom prst="rect">
            <a:avLst/>
          </a:prstGeom>
          <a:solidFill>
            <a:srgbClr val="2B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1556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Путь студента от направления до заселения. EDormitory дополняет my.gov.uz, а не заменяет её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EDormitory by Naurizbek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sp>
        <p:nvSpPr>
          <p:cNvPr id="8" name="Chevron 7"/>
          <p:cNvSpPr/>
          <p:nvPr/>
        </p:nvSpPr>
        <p:spPr>
          <a:xfrm>
            <a:off x="548640" y="1645920"/>
            <a:ext cx="2377440" cy="868680"/>
          </a:xfrm>
          <a:prstGeom prst="chevron">
            <a:avLst/>
          </a:prstGeom>
          <a:solidFill>
            <a:srgbClr val="2B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1874520" cy="5212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my.gov.uz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80260"/>
            <a:ext cx="1874520" cy="39090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заявка и очередь</a:t>
            </a:r>
          </a:p>
        </p:txBody>
      </p:sp>
      <p:sp>
        <p:nvSpPr>
          <p:cNvPr id="11" name="Chevron 10"/>
          <p:cNvSpPr/>
          <p:nvPr/>
        </p:nvSpPr>
        <p:spPr>
          <a:xfrm>
            <a:off x="2724912" y="1645920"/>
            <a:ext cx="2377440" cy="868680"/>
          </a:xfrm>
          <a:prstGeom prst="chevron">
            <a:avLst/>
          </a:prstGeom>
          <a:solidFill>
            <a:srgbClr val="2B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9232" y="1645920"/>
            <a:ext cx="1874520" cy="5212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Направление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2080260"/>
            <a:ext cx="1874520" cy="39090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в общежитие вуза</a:t>
            </a:r>
          </a:p>
        </p:txBody>
      </p:sp>
      <p:sp>
        <p:nvSpPr>
          <p:cNvPr id="14" name="Chevron 13"/>
          <p:cNvSpPr/>
          <p:nvPr/>
        </p:nvSpPr>
        <p:spPr>
          <a:xfrm>
            <a:off x="4901184" y="1645920"/>
            <a:ext cx="2377440" cy="868680"/>
          </a:xfrm>
          <a:prstGeom prst="chevron">
            <a:avLst/>
          </a:prstGeom>
          <a:solidFill>
            <a:srgbClr val="00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75504" y="1645920"/>
            <a:ext cx="1874520" cy="5212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Заселение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5504" y="2080260"/>
            <a:ext cx="1874520" cy="39090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комната, договор</a:t>
            </a:r>
          </a:p>
        </p:txBody>
      </p:sp>
      <p:sp>
        <p:nvSpPr>
          <p:cNvPr id="17" name="Chevron 16"/>
          <p:cNvSpPr/>
          <p:nvPr/>
        </p:nvSpPr>
        <p:spPr>
          <a:xfrm>
            <a:off x="7077456" y="1645920"/>
            <a:ext cx="2377440" cy="868680"/>
          </a:xfrm>
          <a:prstGeom prst="chevron">
            <a:avLst/>
          </a:prstGeom>
          <a:solidFill>
            <a:srgbClr val="00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51776" y="1645920"/>
            <a:ext cx="1874520" cy="5212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Начисления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51776" y="2080260"/>
            <a:ext cx="1874520" cy="39090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по дням проживания</a:t>
            </a:r>
          </a:p>
        </p:txBody>
      </p:sp>
      <p:sp>
        <p:nvSpPr>
          <p:cNvPr id="20" name="Chevron 19"/>
          <p:cNvSpPr/>
          <p:nvPr/>
        </p:nvSpPr>
        <p:spPr>
          <a:xfrm>
            <a:off x="9253728" y="1645920"/>
            <a:ext cx="2377440" cy="868680"/>
          </a:xfrm>
          <a:prstGeom prst="chevron">
            <a:avLst/>
          </a:prstGeom>
          <a:solidFill>
            <a:srgbClr val="00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28048" y="1645920"/>
            <a:ext cx="1874520" cy="5212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Оплата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8048" y="2080260"/>
            <a:ext cx="1874520" cy="39090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и отчётность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606040"/>
            <a:ext cx="4572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B7CB8"/>
                </a:solidFill>
                <a:latin typeface="Calibri"/>
              </a:rPr>
              <a:t>государственная система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2606040"/>
            <a:ext cx="66751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3153"/>
                </a:solidFill>
                <a:latin typeface="Calibri"/>
              </a:rPr>
              <a:t>EDormitory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108960"/>
            <a:ext cx="539496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" y="3108960"/>
            <a:ext cx="5394960" cy="502920"/>
          </a:xfrm>
          <a:prstGeom prst="roundRect">
            <a:avLst>
              <a:gd name="adj" fmla="val 8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127248"/>
            <a:ext cx="5029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B91C1C"/>
                </a:solidFill>
                <a:latin typeface="Calibri"/>
              </a:rPr>
              <a:t>Сегодня: вручную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703320"/>
            <a:ext cx="5120640" cy="2468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>
                <a:solidFill>
                  <a:srgbClr val="111827"/>
                </a:solidFill>
                <a:latin typeface="Calibri"/>
              </a:rPr>
              <a:t>•  Студент приходит с направлением, комендант ищет свободную комнату по журналу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>
                <a:solidFill>
                  <a:srgbClr val="111827"/>
                </a:solidFill>
                <a:latin typeface="Calibri"/>
              </a:rPr>
              <a:t>•  Договор печатается вручную, номер придумывается на месте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>
                <a:solidFill>
                  <a:srgbClr val="111827"/>
                </a:solidFill>
                <a:latin typeface="Calibri"/>
              </a:rPr>
              <a:t>•  Оплата в кассу, квитанция в папку, долг считается в конце месяца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>
                <a:solidFill>
                  <a:srgbClr val="111827"/>
                </a:solidFill>
                <a:latin typeface="Calibri"/>
              </a:rPr>
              <a:t>•  Данные о свободных местах в министерство отправляются письмом или звонком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>
                <a:solidFill>
                  <a:srgbClr val="111827"/>
                </a:solidFill>
                <a:latin typeface="Calibri"/>
              </a:rPr>
              <a:t>•  При переезде или выселении пересчёт денег делается на калькуляторе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108960"/>
            <a:ext cx="539496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17920" y="3108960"/>
            <a:ext cx="5394960" cy="502920"/>
          </a:xfrm>
          <a:prstGeom prst="roundRect">
            <a:avLst>
              <a:gd name="adj" fmla="val 8000"/>
            </a:avLst>
          </a:prstGeom>
          <a:solidFill>
            <a:srgbClr val="E3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3127248"/>
            <a:ext cx="5029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5803D"/>
                </a:solidFill>
                <a:latin typeface="Calibri"/>
              </a:rPr>
              <a:t>С EDormitory: 2 минуты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703320"/>
            <a:ext cx="5120640" cy="2468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>
                <a:solidFill>
                  <a:srgbClr val="111827"/>
                </a:solidFill>
                <a:latin typeface="Calibri"/>
              </a:rPr>
              <a:t>•  Комендант видит свободные места по корпусам и этажам на экране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>
                <a:solidFill>
                  <a:srgbClr val="111827"/>
                </a:solidFill>
                <a:latin typeface="Calibri"/>
              </a:rPr>
              <a:t>•  Договор создаётся автоматически с номером и сроком, комната назначается кликом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>
                <a:solidFill>
                  <a:srgbClr val="111827"/>
                </a:solidFill>
                <a:latin typeface="Calibri"/>
              </a:rPr>
              <a:t>•  Начисления на весь срок появляются сами, оплата закрывает их по порядку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>
                <a:solidFill>
                  <a:srgbClr val="111827"/>
                </a:solidFill>
                <a:latin typeface="Calibri"/>
              </a:rPr>
              <a:t>•  Свободные места и должники видны руководству и министерству сразу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>
                <a:solidFill>
                  <a:srgbClr val="111827"/>
                </a:solidFill>
                <a:latin typeface="Calibri"/>
              </a:rPr>
              <a:t>•  Переезд и выселение пересчитывают деньги с точностью до дня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03153"/>
                </a:solidFill>
                <a:latin typeface="Calibri"/>
              </a:rPr>
              <a:t>Продукт: панель руководителя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822960" cy="45720"/>
          </a:xfrm>
          <a:prstGeom prst="rect">
            <a:avLst/>
          </a:prstGeom>
          <a:solidFill>
            <a:srgbClr val="2B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1556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Состояние всех общежитий на одном экране: жильцы, свободные места, задолженность, сборы за месяц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EDormitory by Naurizbek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21992" y="1499616"/>
            <a:ext cx="7717536" cy="48646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2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856" y="1554480"/>
            <a:ext cx="7607808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03153"/>
                </a:solidFill>
                <a:latin typeface="Calibri"/>
              </a:rPr>
              <a:t>Продукт: комнаты и заселение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822960" cy="45720"/>
          </a:xfrm>
          <a:prstGeom prst="rect">
            <a:avLst/>
          </a:prstGeom>
          <a:solidFill>
            <a:srgbClr val="2B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1556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Карта корпуса по этажам. Заселение, перевод и покупка всей комнаты делаются в два клика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EDormitory by Naurizbek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" y="1762506"/>
            <a:ext cx="6876288" cy="43388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5_roo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17370"/>
            <a:ext cx="6766560" cy="42291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43215" y="1539621"/>
            <a:ext cx="4224528" cy="26814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6_flo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1594485"/>
            <a:ext cx="4114800" cy="257175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498079" y="4343400"/>
            <a:ext cx="411480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4434840"/>
            <a:ext cx="388620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>
                <a:solidFill>
                  <a:srgbClr val="111827"/>
                </a:solidFill>
                <a:latin typeface="Calibri"/>
              </a:rPr>
              <a:t>•  Гендерная политика корпуса и комнаты проверяется автоматически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>
                <a:solidFill>
                  <a:srgbClr val="111827"/>
                </a:solidFill>
                <a:latin typeface="Calibri"/>
              </a:rPr>
              <a:t>•  Занятость считается системой, а не человеком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>
                <a:solidFill>
                  <a:srgbClr val="111827"/>
                </a:solidFill>
                <a:latin typeface="Calibri"/>
              </a:rPr>
              <a:t>•  Ремонт и закрытие комнаты только когда она пуста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03153"/>
                </a:solidFill>
                <a:latin typeface="Calibri"/>
              </a:rPr>
              <a:t>Продукт: карточка студента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822960" cy="45720"/>
          </a:xfrm>
          <a:prstGeom prst="rect">
            <a:avLst/>
          </a:prstGeom>
          <a:solidFill>
            <a:srgbClr val="2B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1556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Договор, комната, начисления по месяцам, платежи, опекуны, документы и история проживания в одном месте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EDormitory by Naurizbek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" y="1505331"/>
            <a:ext cx="7699248" cy="48531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4_resident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60195"/>
            <a:ext cx="7589520" cy="474345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21040" y="1554480"/>
            <a:ext cx="329184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21040" y="1554480"/>
            <a:ext cx="3291840" cy="64008"/>
          </a:xfrm>
          <a:prstGeom prst="rect">
            <a:avLst/>
          </a:prstGeom>
          <a:solidFill>
            <a:srgbClr val="2B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1737360"/>
            <a:ext cx="306324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b="1" sz="1250">
                <a:solidFill>
                  <a:srgbClr val="003153"/>
                </a:solidFill>
                <a:latin typeface="Calibri"/>
              </a:rPr>
              <a:t>•  Начисления с точностью до дня.</a:t>
            </a:r>
            <a:r>
              <a:rPr sz="1250">
                <a:solidFill>
                  <a:srgbClr val="111827"/>
                </a:solidFill>
                <a:latin typeface="Calibri"/>
              </a:rPr>
              <a:t> Заселился 12-го числа, платит только за 19 дней.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b="1" sz="1250">
                <a:solidFill>
                  <a:srgbClr val="003153"/>
                </a:solidFill>
                <a:latin typeface="Calibri"/>
              </a:rPr>
              <a:t>•  Платёж закрывает долги по порядку</a:t>
            </a:r>
            <a:r>
              <a:rPr sz="1250">
                <a:solidFill>
                  <a:srgbClr val="111827"/>
                </a:solidFill>
                <a:latin typeface="Calibri"/>
              </a:rPr>
              <a:t> от самого старого месяца к новому, без ручной разноски.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b="1" sz="1250">
                <a:solidFill>
                  <a:srgbClr val="003153"/>
                </a:solidFill>
                <a:latin typeface="Calibri"/>
              </a:rPr>
              <a:t>•  Перевод в другую комнату</a:t>
            </a:r>
            <a:r>
              <a:rPr sz="1250">
                <a:solidFill>
                  <a:srgbClr val="111827"/>
                </a:solidFill>
                <a:latin typeface="Calibri"/>
              </a:rPr>
              <a:t> пересчитывает текущий месяц по двум комнатам.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b="1" sz="1250">
                <a:solidFill>
                  <a:srgbClr val="003153"/>
                </a:solidFill>
                <a:latin typeface="Calibri"/>
              </a:rPr>
              <a:t>•  Выселение</a:t>
            </a:r>
            <a:r>
              <a:rPr sz="1250">
                <a:solidFill>
                  <a:srgbClr val="111827"/>
                </a:solidFill>
                <a:latin typeface="Calibri"/>
              </a:rPr>
              <a:t> отменяет будущие начисления и возвращает переплату.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b="1" sz="1250">
                <a:solidFill>
                  <a:srgbClr val="003153"/>
                </a:solidFill>
                <a:latin typeface="Calibri"/>
              </a:rPr>
              <a:t>•  Договоры с истёкшим сроком</a:t>
            </a:r>
            <a:r>
              <a:rPr sz="1250">
                <a:solidFill>
                  <a:srgbClr val="111827"/>
                </a:solidFill>
                <a:latin typeface="Calibri"/>
              </a:rPr>
              <a:t> закрываются системой каждую ночь.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03153"/>
                </a:solidFill>
                <a:latin typeface="Calibri"/>
              </a:rPr>
              <a:t>Продукт: отчёты и аудит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822960" cy="45720"/>
          </a:xfrm>
          <a:prstGeom prst="rect">
            <a:avLst/>
          </a:prstGeom>
          <a:solidFill>
            <a:srgbClr val="2B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1556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Должники, занятость, оплаты, жильцы, сводка. Каждое действие сотрудника записано: кто, что и когда изменил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EDormitory by Naurizbek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" y="2162556"/>
            <a:ext cx="5596128" cy="35387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9_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17420"/>
            <a:ext cx="5486400" cy="3429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163056" y="2162556"/>
            <a:ext cx="5596128" cy="35387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0_au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217420"/>
            <a:ext cx="54864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03153"/>
                </a:solidFill>
                <a:latin typeface="Calibri"/>
              </a:rPr>
              <a:t>Продукт: три языка и мобильный доступ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822960" cy="45720"/>
          </a:xfrm>
          <a:prstGeom prst="rect">
            <a:avLst/>
          </a:prstGeom>
          <a:solidFill>
            <a:srgbClr val="2B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1556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Русский, узбекский и каракалпакский интерфейс. Приложение для администрации на iOS и Android уже работает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EDormitory by Naurizbek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" y="1705356"/>
            <a:ext cx="7059168" cy="4453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2_dashboard_u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60220"/>
            <a:ext cx="6949440" cy="43434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17536" y="1898201"/>
            <a:ext cx="1938528" cy="406743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3_mobile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953065"/>
            <a:ext cx="1828800" cy="395771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729216" y="1898201"/>
            <a:ext cx="1938528" cy="406743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3_mobile_resid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0" y="1953065"/>
            <a:ext cx="1828800" cy="39577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03153"/>
                </a:solidFill>
                <a:latin typeface="Calibri"/>
              </a:rPr>
              <a:t>Следующий шаг: приложение студента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822960" cy="45720"/>
          </a:xfrm>
          <a:prstGeom prst="rect">
            <a:avLst/>
          </a:prstGeom>
          <a:solidFill>
            <a:srgbClr val="2B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1556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В разработке. Студент сам выбирает и бронирует комнату, заселяется по направлению и платит с телефона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EDormitory by Naurizbek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00200"/>
            <a:ext cx="2468880" cy="4663440"/>
          </a:xfrm>
          <a:prstGeom prst="roundRect">
            <a:avLst>
              <a:gd name="adj" fmla="val 8000"/>
            </a:avLst>
          </a:prstGeom>
          <a:solidFill>
            <a:srgbClr val="00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691640"/>
            <a:ext cx="228600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1691640"/>
            <a:ext cx="2286000" cy="640080"/>
          </a:xfrm>
          <a:prstGeom prst="roundRect">
            <a:avLst>
              <a:gd name="adj" fmla="val 8000"/>
            </a:avLst>
          </a:prstGeom>
          <a:solidFill>
            <a:srgbClr val="00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737360"/>
            <a:ext cx="201168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EDormitory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Корпус Б · свободно 45 мест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4128" y="2468880"/>
            <a:ext cx="2066544" cy="603504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15568" y="2651760"/>
            <a:ext cx="219456" cy="219456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9888" y="2514600"/>
            <a:ext cx="16459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11827"/>
                </a:solidFill>
                <a:latin typeface="Calibri"/>
              </a:rPr>
              <a:t>Комната 2103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761488"/>
            <a:ext cx="16459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2 из 4 свободно · 500 000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" y="3182112"/>
            <a:ext cx="2066544" cy="603504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15568" y="3364992"/>
            <a:ext cx="219456" cy="219456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89888" y="3227832"/>
            <a:ext cx="16459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11827"/>
                </a:solidFill>
                <a:latin typeface="Calibri"/>
              </a:rPr>
              <a:t>Комната 2105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474720"/>
            <a:ext cx="16459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3 из 3 свободно · 450 000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8" y="3895344"/>
            <a:ext cx="2066544" cy="603504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15568" y="4078224"/>
            <a:ext cx="219456" cy="219456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89888" y="3941064"/>
            <a:ext cx="16459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11827"/>
                </a:solidFill>
                <a:latin typeface="Calibri"/>
              </a:rPr>
              <a:t>Комната 2201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9888" y="4187952"/>
            <a:ext cx="16459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1 из 2 свободно · 600 000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4128" y="4608576"/>
            <a:ext cx="2066544" cy="603504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15568" y="4791456"/>
            <a:ext cx="219456" cy="219456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89888" y="4654296"/>
            <a:ext cx="16459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11827"/>
                </a:solidFill>
                <a:latin typeface="Calibri"/>
              </a:rPr>
              <a:t>Комната 2301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9888" y="4901184"/>
            <a:ext cx="16459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занята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24128" y="5394960"/>
            <a:ext cx="2066544" cy="502920"/>
          </a:xfrm>
          <a:prstGeom prst="roundRect">
            <a:avLst>
              <a:gd name="adj" fmla="val 8000"/>
            </a:avLst>
          </a:prstGeom>
          <a:solidFill>
            <a:srgbClr val="00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8" y="5394960"/>
            <a:ext cx="2066544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Забронировать комнату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989320"/>
            <a:ext cx="24688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макет экрана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0" y="1600200"/>
            <a:ext cx="39319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0" y="1783080"/>
            <a:ext cx="384048" cy="384048"/>
          </a:xfrm>
          <a:prstGeom prst="ellipse">
            <a:avLst/>
          </a:prstGeom>
          <a:solidFill>
            <a:srgbClr val="2B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0" y="1783080"/>
            <a:ext cx="384048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1737360"/>
            <a:ext cx="31089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3153"/>
                </a:solidFill>
                <a:latin typeface="Calibri"/>
              </a:rPr>
              <a:t>Свободные места онлайн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2221992"/>
            <a:ext cx="361188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11827"/>
                </a:solidFill>
                <a:latin typeface="Calibri"/>
              </a:rPr>
              <a:t>Студент видит комнаты, цены и соседей по факультету ещё до приезда в город.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26679" y="1600200"/>
            <a:ext cx="39319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909559" y="1783080"/>
            <a:ext cx="384048" cy="384048"/>
          </a:xfrm>
          <a:prstGeom prst="ellipse">
            <a:avLst/>
          </a:prstGeom>
          <a:solidFill>
            <a:srgbClr val="2B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09559" y="1783080"/>
            <a:ext cx="384048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79" y="1737360"/>
            <a:ext cx="31089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3153"/>
                </a:solidFill>
                <a:latin typeface="Calibri"/>
              </a:rPr>
              <a:t>Бронирование и самозаселение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09559" y="2221992"/>
            <a:ext cx="361188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11827"/>
                </a:solidFill>
                <a:latin typeface="Calibri"/>
              </a:rPr>
              <a:t>Получил направление из my.gov.uz, выбрал комнату, подтвердил. Комендант только проверяет документы.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57600" y="3172968"/>
            <a:ext cx="39319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840480" y="3355848"/>
            <a:ext cx="384048" cy="384048"/>
          </a:xfrm>
          <a:prstGeom prst="ellipse">
            <a:avLst/>
          </a:prstGeom>
          <a:solidFill>
            <a:srgbClr val="2B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40480" y="3355848"/>
            <a:ext cx="384048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3310128"/>
            <a:ext cx="31089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3153"/>
                </a:solidFill>
                <a:latin typeface="Calibri"/>
              </a:rPr>
              <a:t>Баланс и оплата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0480" y="3794760"/>
            <a:ext cx="361188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11827"/>
                </a:solidFill>
                <a:latin typeface="Calibri"/>
              </a:rPr>
              <a:t>Сколько начислено, за какой месяц, сколько осталось. Оплата через Payme и Click прямо в приложении.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26679" y="3172968"/>
            <a:ext cx="39319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909559" y="3355848"/>
            <a:ext cx="384048" cy="384048"/>
          </a:xfrm>
          <a:prstGeom prst="ellipse">
            <a:avLst/>
          </a:prstGeom>
          <a:solidFill>
            <a:srgbClr val="2B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09559" y="3355848"/>
            <a:ext cx="384048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79" y="3310128"/>
            <a:ext cx="31089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3153"/>
                </a:solidFill>
                <a:latin typeface="Calibri"/>
              </a:rPr>
              <a:t>Уведомления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09559" y="3794760"/>
            <a:ext cx="361188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11827"/>
                </a:solidFill>
                <a:latin typeface="Calibri"/>
              </a:rPr>
              <a:t>Напоминание об оплате, окончании договора, переезде. Родители могут получать копию.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657600" y="4745736"/>
            <a:ext cx="39319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840480" y="4928616"/>
            <a:ext cx="384048" cy="384048"/>
          </a:xfrm>
          <a:prstGeom prst="ellipse">
            <a:avLst/>
          </a:prstGeom>
          <a:solidFill>
            <a:srgbClr val="2B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840480" y="4928616"/>
            <a:ext cx="384048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43400" y="4882896"/>
            <a:ext cx="31089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3153"/>
                </a:solidFill>
                <a:latin typeface="Calibri"/>
              </a:rPr>
              <a:t>Заявки и обращения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40480" y="5367528"/>
            <a:ext cx="361188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11827"/>
                </a:solidFill>
                <a:latin typeface="Calibri"/>
              </a:rPr>
              <a:t>Ремонт, замена белья, жалоба. Комендант видит заявки в своей панели.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726679" y="4745736"/>
            <a:ext cx="39319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909559" y="4928616"/>
            <a:ext cx="384048" cy="384048"/>
          </a:xfrm>
          <a:prstGeom prst="ellipse">
            <a:avLst/>
          </a:prstGeom>
          <a:solidFill>
            <a:srgbClr val="2B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09559" y="4928616"/>
            <a:ext cx="384048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12479" y="4882896"/>
            <a:ext cx="31089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3153"/>
                </a:solidFill>
                <a:latin typeface="Calibri"/>
              </a:rPr>
              <a:t>Пропуск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09559" y="5367528"/>
            <a:ext cx="361188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11827"/>
                </a:solidFill>
                <a:latin typeface="Calibri"/>
              </a:rPr>
              <a:t>QR-код студента для входа в общежитие, события входа и выхода в его карточке.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03153"/>
                </a:solidFill>
                <a:latin typeface="Calibri"/>
              </a:rPr>
              <a:t>Что это даёт государству и вузам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822960" cy="45720"/>
          </a:xfrm>
          <a:prstGeom prst="rect">
            <a:avLst/>
          </a:prstGeom>
          <a:solidFill>
            <a:srgbClr val="2B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1556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Система не заменяет my.gov.uz, а дополняет её там, где сейчас нет цифрового учёта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EDormitory by Naurizbek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361188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3611880" cy="548640"/>
          </a:xfrm>
          <a:prstGeom prst="roundRect">
            <a:avLst>
              <a:gd name="adj" fmla="val 8000"/>
            </a:avLst>
          </a:prstGeom>
          <a:solidFill>
            <a:srgbClr val="00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32918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Министерству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86000"/>
            <a:ext cx="333756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300">
                <a:solidFill>
                  <a:srgbClr val="111827"/>
                </a:solidFill>
                <a:latin typeface="Calibri"/>
              </a:rPr>
              <a:t>•  Актуальные свободные места по каждому общежитию в реальном времени, без ручных отчётов вузов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300">
                <a:solidFill>
                  <a:srgbClr val="111827"/>
                </a:solidFill>
                <a:latin typeface="Calibri"/>
              </a:rPr>
              <a:t>•  Достоверная статистика: занятость, оплата, задолженность по регионам и вузам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300">
                <a:solidFill>
                  <a:srgbClr val="111827"/>
                </a:solidFill>
                <a:latin typeface="Calibri"/>
              </a:rPr>
              <a:t>•  Контроль субсидий на проживание: кто, сколько и за что заплатил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300">
                <a:solidFill>
                  <a:srgbClr val="111827"/>
                </a:solidFill>
                <a:latin typeface="Calibri"/>
              </a:rPr>
              <a:t>•  Снижение коррупционных рисков: каждое заселение и переезд оставляет след в аудите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1600200"/>
            <a:ext cx="361188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79" y="1600200"/>
            <a:ext cx="3611880" cy="548640"/>
          </a:xfrm>
          <a:prstGeom prst="roundRect">
            <a:avLst>
              <a:gd name="adj" fmla="val 8000"/>
            </a:avLst>
          </a:prstGeom>
          <a:solidFill>
            <a:srgbClr val="2B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59" y="1627632"/>
            <a:ext cx="32918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Вузу и коменданту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39" y="2286000"/>
            <a:ext cx="333756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300">
                <a:solidFill>
                  <a:srgbClr val="111827"/>
                </a:solidFill>
                <a:latin typeface="Calibri"/>
              </a:rPr>
              <a:t>•  Заселение за минуты вместо дней, без бумажных журналов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300">
                <a:solidFill>
                  <a:srgbClr val="111827"/>
                </a:solidFill>
                <a:latin typeface="Calibri"/>
              </a:rPr>
              <a:t>•  Автоматические начисления и долги, бухгалтер не сверяет квитанции вручную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300">
                <a:solidFill>
                  <a:srgbClr val="111827"/>
                </a:solidFill>
                <a:latin typeface="Calibri"/>
              </a:rPr>
              <a:t>•  История проживания и документы студента всегда под рукой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300">
                <a:solidFill>
                  <a:srgbClr val="111827"/>
                </a:solidFill>
                <a:latin typeface="Calibri"/>
              </a:rPr>
              <a:t>•  Одна система для всех корпусов, роли для каждого сотрудника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600200"/>
            <a:ext cx="361188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6719" y="1600200"/>
            <a:ext cx="3611880" cy="548640"/>
          </a:xfrm>
          <a:prstGeom prst="roundRect">
            <a:avLst>
              <a:gd name="adj" fmla="val 8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9" y="1627632"/>
            <a:ext cx="32918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Студенту и родителям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286000"/>
            <a:ext cx="333756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300">
                <a:solidFill>
                  <a:srgbClr val="111827"/>
                </a:solidFill>
                <a:latin typeface="Calibri"/>
              </a:rPr>
              <a:t>•  Понятно, сколько и за какой месяц нужно заплатить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300">
                <a:solidFill>
                  <a:srgbClr val="111827"/>
                </a:solidFill>
                <a:latin typeface="Calibri"/>
              </a:rPr>
              <a:t>•  Вход через Telegram без паролей, уведомления о платежах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300">
                <a:solidFill>
                  <a:srgbClr val="111827"/>
                </a:solidFill>
                <a:latin typeface="Calibri"/>
              </a:rPr>
              <a:t>•  В планах: бронирование комнаты и самостоятельное заселение через приложение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300">
                <a:solidFill>
                  <a:srgbClr val="111827"/>
                </a:solidFill>
                <a:latin typeface="Calibri"/>
              </a:rPr>
              <a:t>•  Меньше очередей и визитов к коменданту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00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257800"/>
            <a:ext cx="1051560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Одни и те же данные на трёх уровнях: студент видит свой баланс, вуз видит корпуса, министерство видит страну. Без повторного ввода.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03153"/>
                </a:solidFill>
                <a:latin typeface="Calibri"/>
              </a:rPr>
              <a:t>Интеграции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822960" cy="45720"/>
          </a:xfrm>
          <a:prstGeom prst="rect">
            <a:avLst/>
          </a:prstGeom>
          <a:solidFill>
            <a:srgbClr val="2B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1556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Открытый REST API уже готов. Интеграции подключаются по мере согласования с ведомствами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EDormitory by Naurizbek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60020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760720"/>
                <a:gridCol w="256032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Система</a:t>
                      </a:r>
                    </a:p>
                  </a:txBody>
                  <a:tcPr marL="73152" marR="73152" marT="36576" marB="36576">
                    <a:solidFill>
                      <a:srgbClr val="00315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Что даёт интеграция</a:t>
                      </a:r>
                    </a:p>
                  </a:txBody>
                  <a:tcPr marL="73152" marR="73152" marT="36576" marB="36576">
                    <a:solidFill>
                      <a:srgbClr val="00315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Статус</a:t>
                      </a:r>
                    </a:p>
                  </a:txBody>
                  <a:tcPr marL="73152" marR="73152" marT="36576" marB="36576">
                    <a:solidFill>
                      <a:srgbClr val="003153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11827"/>
                          </a:solidFill>
                          <a:latin typeface="Calibri"/>
                        </a:rPr>
                        <a:t>my.gov.uz / система Минвуза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Импорт направлений на заселение, автоматическая выгрузка свободных мест каждый день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план, нужен доступ к API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11827"/>
                          </a:solidFill>
                          <a:latin typeface="Calibri"/>
                        </a:rPr>
                        <a:t>HEMIS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Импорт студентов, факультетов и курсов, синхронизация статуса обучения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план, нужен доступ к API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11827"/>
                          </a:solidFill>
                          <a:latin typeface="Calibri"/>
                        </a:rPr>
                        <a:t>1С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Передача начислений и платежей в бухгалтерию вуза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план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11827"/>
                          </a:solidFill>
                          <a:latin typeface="Calibri"/>
                        </a:rPr>
                        <a:t>Payme, Click, Uzum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Онлайн-оплата проживания студентом, автоматическая разноска платежа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план, этап 3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11827"/>
                          </a:solidFill>
                          <a:latin typeface="Calibri"/>
                        </a:rPr>
                        <a:t>Telegram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Вход по номеру телефона с кодом, уведомления студентам и сотрудникам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5803D"/>
                          </a:solidFill>
                          <a:latin typeface="Calibri"/>
                        </a:rPr>
                        <a:t>работает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11827"/>
                          </a:solidFill>
                          <a:latin typeface="Calibri"/>
                        </a:rPr>
                        <a:t>СКУД, турникеты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События входа и выхода студентов привязаны к карточке жильца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модуль готов, ждёт оборудование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553212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73152" cy="685800"/>
          </a:xfrm>
          <a:prstGeom prst="rect">
            <a:avLst/>
          </a:prstGeom>
          <a:solidFill>
            <a:srgbClr val="2B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532120"/>
            <a:ext cx="1060704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003153"/>
                </a:solidFill>
                <a:latin typeface="Calibri"/>
              </a:rPr>
              <a:t>Вся документация API открыта (OpenAPI). Для интеграции с государственными системами нужен только технический доступ, код с нашей стороны готов принять данные в любом формате.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03153"/>
                </a:solidFill>
                <a:latin typeface="Calibri"/>
              </a:rPr>
              <a:t>Рынок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822960" cy="45720"/>
          </a:xfrm>
          <a:prstGeom prst="rect">
            <a:avLst/>
          </a:prstGeom>
          <a:solidFill>
            <a:srgbClr val="2B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1556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Дефицит мест растёт, строятся новые кампусы, а цифрового учёта внутри общежитий нет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EDormitory by Naurizbek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3566160" cy="64008"/>
          </a:xfrm>
          <a:prstGeom prst="rect">
            <a:avLst/>
          </a:prstGeom>
          <a:solidFill>
            <a:srgbClr val="00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310896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03153"/>
                </a:solidFill>
                <a:latin typeface="Calibri"/>
              </a:rPr>
              <a:t>200+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31089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11827"/>
                </a:solidFill>
                <a:latin typeface="Calibri"/>
              </a:rPr>
              <a:t>вузов в Узбекистане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26080"/>
            <a:ext cx="31089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государственные, частные и филиалы зарубежных. Почти у каждого есть хотя бы одно общежитие.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600200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600200"/>
            <a:ext cx="3566160" cy="64008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783080"/>
            <a:ext cx="310896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B91C1C"/>
                </a:solidFill>
                <a:latin typeface="Calibri"/>
              </a:rPr>
              <a:t>≈ 90 000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468880"/>
            <a:ext cx="31089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11827"/>
                </a:solidFill>
                <a:latin typeface="Calibri"/>
              </a:rPr>
              <a:t>студентов без жилья в Ташкенте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926080"/>
            <a:ext cx="31089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при 45 800 местах в общежитиях. В регионах ситуация похожая.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600200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600200"/>
            <a:ext cx="3566160" cy="64008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783080"/>
            <a:ext cx="310896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5803D"/>
                </a:solidFill>
                <a:latin typeface="Calibri"/>
              </a:rPr>
              <a:t>1 800+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468880"/>
            <a:ext cx="31089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11827"/>
                </a:solidFill>
                <a:latin typeface="Calibri"/>
              </a:rPr>
              <a:t>мест в новых общежитиях столицы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926080"/>
            <a:ext cx="31089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три общежития студенческого городка достраиваются, планируется международный университетский кампус.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886200"/>
            <a:ext cx="1106424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886200"/>
            <a:ext cx="73152" cy="2331720"/>
          </a:xfrm>
          <a:prstGeom prst="rect">
            <a:avLst/>
          </a:prstGeom>
          <a:solidFill>
            <a:srgbClr val="2B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023360"/>
            <a:ext cx="1060704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b="1" sz="1350">
                <a:solidFill>
                  <a:srgbClr val="003153"/>
                </a:solidFill>
                <a:latin typeface="Calibri"/>
              </a:rPr>
              <a:t>•  Государственные общежития:</a:t>
            </a:r>
            <a:r>
              <a:rPr sz="1350">
                <a:solidFill>
                  <a:srgbClr val="111827"/>
                </a:solidFill>
                <a:latin typeface="Calibri"/>
              </a:rPr>
              <a:t> основной сегмент, требуют интеграции с my.gov.uz и отчётности для министерства.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b="1" sz="1350">
                <a:solidFill>
                  <a:srgbClr val="003153"/>
                </a:solidFill>
                <a:latin typeface="Calibri"/>
              </a:rPr>
              <a:t>•  Негосударственные вузы и филиалы:</a:t>
            </a:r>
            <a:r>
              <a:rPr sz="1350">
                <a:solidFill>
                  <a:srgbClr val="111827"/>
                </a:solidFill>
                <a:latin typeface="Calibri"/>
              </a:rPr>
              <a:t> свободны в выборе систем, готовы внедрять быстро.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b="1" sz="1350">
                <a:solidFill>
                  <a:srgbClr val="003153"/>
                </a:solidFill>
                <a:latin typeface="Calibri"/>
              </a:rPr>
              <a:t>•  Частные студенческие общежития:</a:t>
            </a:r>
            <a:r>
              <a:rPr sz="1350">
                <a:solidFill>
                  <a:srgbClr val="111827"/>
                </a:solidFill>
                <a:latin typeface="Calibri"/>
              </a:rPr>
              <a:t> растущий рынок, работают на субсидии государства, учёт ведут в Excel.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b="1" sz="1350">
                <a:solidFill>
                  <a:srgbClr val="003153"/>
                </a:solidFill>
                <a:latin typeface="Calibri"/>
              </a:rPr>
              <a:t>•  Тренд:</a:t>
            </a:r>
            <a:r>
              <a:rPr sz="1350">
                <a:solidFill>
                  <a:srgbClr val="111827"/>
                </a:solidFill>
                <a:latin typeface="Calibri"/>
              </a:rPr>
              <a:t> государство переводит заселение в цифру с 2023 года и заявляет о планах распределять комнаты автоматически. EDormitory это готовый инструмент для следующего шага.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03153"/>
                </a:solidFill>
                <a:latin typeface="Calibri"/>
              </a:rPr>
              <a:t>Аналоги и место EDormitory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822960" cy="45720"/>
          </a:xfrm>
          <a:prstGeom prst="rect">
            <a:avLst/>
          </a:prstGeom>
          <a:solidFill>
            <a:srgbClr val="2B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1556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Прямого аналога в Узбекистане нет. Существующие решения закрывают только часть задачи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EDormitory by Naurizbek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600200"/>
          <a:ext cx="1106424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371600"/>
                <a:gridCol w="1737360"/>
                <a:gridCol w="1554480"/>
                <a:gridCol w="1645920"/>
                <a:gridCol w="1645920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Возможность</a:t>
                      </a:r>
                    </a:p>
                  </a:txBody>
                  <a:tcPr marL="73152" marR="73152" marT="36576" marB="36576">
                    <a:solidFill>
                      <a:srgbClr val="00315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my.gov.uz</a:t>
                      </a:r>
                    </a:p>
                  </a:txBody>
                  <a:tcPr marL="73152" marR="73152" marT="36576" marB="36576">
                    <a:solidFill>
                      <a:srgbClr val="00315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Системы вузов</a:t>
                      </a:r>
                    </a:p>
                  </a:txBody>
                  <a:tcPr marL="73152" marR="73152" marT="36576" marB="36576">
                    <a:solidFill>
                      <a:srgbClr val="00315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Excel, журналы</a:t>
                      </a:r>
                    </a:p>
                  </a:txBody>
                  <a:tcPr marL="73152" marR="73152" marT="36576" marB="36576">
                    <a:solidFill>
                      <a:srgbClr val="00315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1С:Университет</a:t>
                      </a:r>
                    </a:p>
                  </a:txBody>
                  <a:tcPr marL="73152" marR="73152" marT="36576" marB="36576">
                    <a:solidFill>
                      <a:srgbClr val="00315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EDormitory</a:t>
                      </a:r>
                    </a:p>
                  </a:txBody>
                  <a:tcPr marL="73152" marR="73152" marT="36576" marB="36576">
                    <a:solidFill>
                      <a:srgbClr val="003153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11827"/>
                          </a:solidFill>
                          <a:latin typeface="Calibri"/>
                        </a:rPr>
                        <a:t>Заявка и очередь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5803D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частично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B91C1C"/>
                          </a:solidFill>
                          <a:latin typeface="Calibri"/>
                        </a:rPr>
                        <a:t>✖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B91C1C"/>
                          </a:solidFill>
                          <a:latin typeface="Calibri"/>
                        </a:rPr>
                        <a:t>✖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интеграция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11827"/>
                          </a:solidFill>
                          <a:latin typeface="Calibri"/>
                        </a:rPr>
                        <a:t>Учёт по комнатам и переезды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B91C1C"/>
                          </a:solidFill>
                          <a:latin typeface="Calibri"/>
                        </a:rPr>
                        <a:t>✖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частично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вручную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5803D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5803D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11827"/>
                          </a:solidFill>
                          <a:latin typeface="Calibri"/>
                        </a:rPr>
                        <a:t>Начисления и долги автоматически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B91C1C"/>
                          </a:solidFill>
                          <a:latin typeface="Calibri"/>
                        </a:rPr>
                        <a:t>✖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B91C1C"/>
                          </a:solidFill>
                          <a:latin typeface="Calibri"/>
                        </a:rPr>
                        <a:t>✖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B91C1C"/>
                          </a:solidFill>
                          <a:latin typeface="Calibri"/>
                        </a:rPr>
                        <a:t>✖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5803D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5803D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11827"/>
                          </a:solidFill>
                          <a:latin typeface="Calibri"/>
                        </a:rPr>
                        <a:t>Журнал аудита действий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B91C1C"/>
                          </a:solidFill>
                          <a:latin typeface="Calibri"/>
                        </a:rPr>
                        <a:t>✖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B91C1C"/>
                          </a:solidFill>
                          <a:latin typeface="Calibri"/>
                        </a:rPr>
                        <a:t>✖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B91C1C"/>
                          </a:solidFill>
                          <a:latin typeface="Calibri"/>
                        </a:rPr>
                        <a:t>✖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частично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5803D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11827"/>
                          </a:solidFill>
                          <a:latin typeface="Calibri"/>
                        </a:rPr>
                        <a:t>Узбекский и каракалпакский язык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5803D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частично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B91C1C"/>
                          </a:solidFill>
                          <a:latin typeface="Calibri"/>
                        </a:rPr>
                        <a:t>✖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5803D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11827"/>
                          </a:solidFill>
                          <a:latin typeface="Calibri"/>
                        </a:rPr>
                        <a:t>Мобильное приложение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B91C1C"/>
                          </a:solidFill>
                          <a:latin typeface="Calibri"/>
                        </a:rPr>
                        <a:t>✖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B91C1C"/>
                          </a:solidFill>
                          <a:latin typeface="Calibri"/>
                        </a:rPr>
                        <a:t>✖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B91C1C"/>
                          </a:solidFill>
                          <a:latin typeface="Calibri"/>
                        </a:rPr>
                        <a:t>✖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B91C1C"/>
                          </a:solidFill>
                          <a:latin typeface="Calibri"/>
                        </a:rPr>
                        <a:t>✖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5803D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11827"/>
                          </a:solidFill>
                          <a:latin typeface="Calibri"/>
                        </a:rPr>
                        <a:t>Вход через Telegram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B91C1C"/>
                          </a:solidFill>
                          <a:latin typeface="Calibri"/>
                        </a:rPr>
                        <a:t>✖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B91C1C"/>
                          </a:solidFill>
                          <a:latin typeface="Calibri"/>
                        </a:rPr>
                        <a:t>✖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B91C1C"/>
                          </a:solidFill>
                          <a:latin typeface="Calibri"/>
                        </a:rPr>
                        <a:t>✖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B91C1C"/>
                          </a:solidFill>
                          <a:latin typeface="Calibri"/>
                        </a:rPr>
                        <a:t>✖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5803D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11827"/>
                          </a:solidFill>
                          <a:latin typeface="Calibri"/>
                        </a:rPr>
                        <a:t>Стоимость внедрения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бесплатно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свой штат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бесплатно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высокая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низкая</a:t>
                      </a:r>
                    </a:p>
                  </a:txBody>
                  <a:tcPr marL="73152" marR="73152" marT="36576" marB="36576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566928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5669280"/>
            <a:ext cx="73152" cy="594360"/>
          </a:xfrm>
          <a:prstGeom prst="rect">
            <a:avLst/>
          </a:prstGeom>
          <a:solidFill>
            <a:srgbClr val="2B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669280"/>
            <a:ext cx="1060704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003153"/>
                </a:solidFill>
                <a:latin typeface="Calibri"/>
              </a:rPr>
              <a:t>EDormitory дополняет государственную систему: my.gov.uz распределяет студентов по вузам, EDormitory ведёт всё, что происходит дальше.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03153"/>
                </a:solidFill>
                <a:latin typeface="Calibri"/>
              </a:rPr>
              <a:t>Как это работает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822960" cy="45720"/>
          </a:xfrm>
          <a:prstGeom prst="rect">
            <a:avLst/>
          </a:prstGeom>
          <a:solidFill>
            <a:srgbClr val="2B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1556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Современный стек, открытый API, данные остаются на сервере вуза или министерства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EDormitory by Naurizbek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329184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3291840" cy="502920"/>
          </a:xfrm>
          <a:prstGeom prst="roundRect">
            <a:avLst>
              <a:gd name="adj" fmla="val 8000"/>
            </a:avLst>
          </a:prstGeom>
          <a:solidFill>
            <a:srgbClr val="2B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18488"/>
            <a:ext cx="30175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Клиенты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40280"/>
            <a:ext cx="306324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>
                <a:solidFill>
                  <a:srgbClr val="111827"/>
                </a:solidFill>
                <a:latin typeface="Calibri"/>
              </a:rPr>
              <a:t>•  Веб-панель (React)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>
                <a:solidFill>
                  <a:srgbClr val="111827"/>
                </a:solidFill>
                <a:latin typeface="Calibri"/>
              </a:rPr>
              <a:t>•  Мобильное приложение (Flutter, iOS и Android)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>
                <a:solidFill>
                  <a:srgbClr val="111827"/>
                </a:solidFill>
                <a:latin typeface="Calibri"/>
              </a:rPr>
              <a:t>•  Telegram-бот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>
                <a:solidFill>
                  <a:srgbClr val="111827"/>
                </a:solidFill>
                <a:latin typeface="Calibri"/>
              </a:rPr>
              <a:t>•  Приложение студента (в разработке)</a:t>
            </a:r>
          </a:p>
        </p:txBody>
      </p:sp>
      <p:sp>
        <p:nvSpPr>
          <p:cNvPr id="12" name="Chevron 11"/>
          <p:cNvSpPr/>
          <p:nvPr/>
        </p:nvSpPr>
        <p:spPr>
          <a:xfrm>
            <a:off x="3931920" y="2697480"/>
            <a:ext cx="411480" cy="457200"/>
          </a:xfrm>
          <a:prstGeom prst="chevron">
            <a:avLst/>
          </a:prstGeom>
          <a:solidFill>
            <a:srgbClr val="2B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4840" y="1600200"/>
            <a:ext cx="329184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34840" y="1600200"/>
            <a:ext cx="3291840" cy="502920"/>
          </a:xfrm>
          <a:prstGeom prst="roundRect">
            <a:avLst>
              <a:gd name="adj" fmla="val 8000"/>
            </a:avLst>
          </a:prstGeom>
          <a:solidFill>
            <a:srgbClr val="00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618488"/>
            <a:ext cx="30175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Сервер и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240280"/>
            <a:ext cx="306324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>
                <a:solidFill>
                  <a:srgbClr val="111827"/>
                </a:solidFill>
                <a:latin typeface="Calibri"/>
              </a:rPr>
              <a:t>•  Python, Django REST Framework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>
                <a:solidFill>
                  <a:srgbClr val="111827"/>
                </a:solidFill>
                <a:latin typeface="Calibri"/>
              </a:rPr>
              <a:t>•  JWT-аутентификация, 5 ролей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>
                <a:solidFill>
                  <a:srgbClr val="111827"/>
                </a:solidFill>
                <a:latin typeface="Calibri"/>
              </a:rPr>
              <a:t>•  Открытая OpenAPI-документация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>
                <a:solidFill>
                  <a:srgbClr val="111827"/>
                </a:solidFill>
                <a:latin typeface="Calibri"/>
              </a:rPr>
              <a:t>•  Аудит каждого изменения</a:t>
            </a:r>
          </a:p>
        </p:txBody>
      </p:sp>
      <p:sp>
        <p:nvSpPr>
          <p:cNvPr id="17" name="Chevron 16"/>
          <p:cNvSpPr/>
          <p:nvPr/>
        </p:nvSpPr>
        <p:spPr>
          <a:xfrm>
            <a:off x="7818120" y="2697480"/>
            <a:ext cx="411480" cy="457200"/>
          </a:xfrm>
          <a:prstGeom prst="chevron">
            <a:avLst/>
          </a:prstGeom>
          <a:solidFill>
            <a:srgbClr val="2B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1600200"/>
            <a:ext cx="329184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21040" y="1600200"/>
            <a:ext cx="3291840" cy="502920"/>
          </a:xfrm>
          <a:prstGeom prst="roundRect">
            <a:avLst>
              <a:gd name="adj" fmla="val 8000"/>
            </a:avLst>
          </a:prstGeom>
          <a:solidFill>
            <a:srgbClr val="2B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1618488"/>
            <a:ext cx="30175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Данные и инфраструктура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240280"/>
            <a:ext cx="306324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>
                <a:solidFill>
                  <a:srgbClr val="111827"/>
                </a:solidFill>
                <a:latin typeface="Calibri"/>
              </a:rPr>
              <a:t>•  PostgreSQL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>
                <a:solidFill>
                  <a:srgbClr val="111827"/>
                </a:solidFill>
                <a:latin typeface="Calibri"/>
              </a:rPr>
              <a:t>•  HTTPS, Cloudflare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>
                <a:solidFill>
                  <a:srgbClr val="111827"/>
                </a:solidFill>
                <a:latin typeface="Calibri"/>
              </a:rPr>
              <a:t>•  Разворачивается на любом сервере, в том числе в дата-центре вуза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>
                <a:solidFill>
                  <a:srgbClr val="111827"/>
                </a:solidFill>
                <a:latin typeface="Calibri"/>
              </a:rPr>
              <a:t>•  Резервные копии базы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25196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251960"/>
            <a:ext cx="73152" cy="1371600"/>
          </a:xfrm>
          <a:prstGeom prst="rect">
            <a:avLst/>
          </a:prstGeom>
          <a:solidFill>
            <a:srgbClr val="00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370832"/>
            <a:ext cx="10607040" cy="1234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b="1" sz="1300">
                <a:solidFill>
                  <a:srgbClr val="003153"/>
                </a:solidFill>
                <a:latin typeface="Calibri"/>
              </a:rPr>
              <a:t>•  Безопасность:</a:t>
            </a:r>
            <a:r>
              <a:rPr sz="1300">
                <a:solidFill>
                  <a:srgbClr val="111827"/>
                </a:solidFill>
                <a:latin typeface="Calibri"/>
              </a:rPr>
              <a:t> разграничение прав по ролям, шифрование трафика, журнал действий, персональные данные не покидают сервер.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b="1" sz="1300">
                <a:solidFill>
                  <a:srgbClr val="003153"/>
                </a:solidFill>
                <a:latin typeface="Calibri"/>
              </a:rPr>
              <a:t>•  Масштабирование:</a:t>
            </a:r>
            <a:r>
              <a:rPr sz="1300">
                <a:solidFill>
                  <a:srgbClr val="111827"/>
                </a:solidFill>
                <a:latin typeface="Calibri"/>
              </a:rPr>
              <a:t> одна установка обслуживает все корпуса вуза; для министерства возможен единый реестр по всем вузам.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b="1" sz="1300">
                <a:solidFill>
                  <a:srgbClr val="003153"/>
                </a:solidFill>
                <a:latin typeface="Calibri"/>
              </a:rPr>
              <a:t>•  Качество:</a:t>
            </a:r>
            <a:r>
              <a:rPr sz="1300">
                <a:solidFill>
                  <a:srgbClr val="111827"/>
                </a:solidFill>
                <a:latin typeface="Calibri"/>
              </a:rPr>
              <a:t> более 250 автоматических тестов, система работает в продакшене.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03153"/>
                </a:solidFill>
                <a:latin typeface="Calibri"/>
              </a:rPr>
              <a:t>Что уже сделано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822960" cy="45720"/>
          </a:xfrm>
          <a:prstGeom prst="rect">
            <a:avLst/>
          </a:prstGeom>
          <a:solidFill>
            <a:srgbClr val="2B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1556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Это не прототип: система развёрнута и работает по адресу begimbaev-dormitory.uk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EDormitory by Naurizbek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361188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3611880" cy="64008"/>
          </a:xfrm>
          <a:prstGeom prst="rect">
            <a:avLst/>
          </a:prstGeom>
          <a:solidFill>
            <a:srgbClr val="00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31546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03153"/>
                </a:solidFill>
                <a:latin typeface="Calibri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31546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11827"/>
                </a:solidFill>
                <a:latin typeface="Calibri"/>
              </a:rPr>
              <a:t>модулей 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26080"/>
            <a:ext cx="315468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жильцы, комнаты, договоры, финансы, отчёты, аудит, доступ, пользователи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79" y="1600200"/>
            <a:ext cx="361188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79" y="1600200"/>
            <a:ext cx="3611880" cy="64008"/>
          </a:xfrm>
          <a:prstGeom prst="rect">
            <a:avLst/>
          </a:prstGeom>
          <a:solidFill>
            <a:srgbClr val="2B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79" y="1783080"/>
            <a:ext cx="31546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2B7CB8"/>
                </a:solidFill>
                <a:latin typeface="Calibri"/>
              </a:rPr>
              <a:t>50+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79" y="2468880"/>
            <a:ext cx="31546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11827"/>
                </a:solidFill>
                <a:latin typeface="Calibri"/>
              </a:rPr>
              <a:t>методов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79" y="2926080"/>
            <a:ext cx="315468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открытая документация OpenAPI для интеграций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19" y="1600200"/>
            <a:ext cx="361188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19" y="1600200"/>
            <a:ext cx="3611880" cy="64008"/>
          </a:xfrm>
          <a:prstGeom prst="rect">
            <a:avLst/>
          </a:prstGeom>
          <a:solidFill>
            <a:srgbClr val="00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19" y="1783080"/>
            <a:ext cx="31546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03153"/>
                </a:solidFill>
                <a:latin typeface="Calibri"/>
              </a:rPr>
              <a:t>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2468880"/>
            <a:ext cx="31546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11827"/>
                </a:solidFill>
                <a:latin typeface="Calibri"/>
              </a:rPr>
              <a:t>экранов веб-панели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2926080"/>
            <a:ext cx="315468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плюс 20 экранов мобильного приложения для администрации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977639"/>
            <a:ext cx="361188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977639"/>
            <a:ext cx="3611880" cy="64008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160519"/>
            <a:ext cx="31546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5803D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846319"/>
            <a:ext cx="31546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11827"/>
                </a:solidFill>
                <a:latin typeface="Calibri"/>
              </a:rPr>
              <a:t>языка интерфейса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303519"/>
            <a:ext cx="315468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русский, узбекский, каракалпакский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79" y="3977639"/>
            <a:ext cx="361188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79" y="3977639"/>
            <a:ext cx="3611880" cy="64008"/>
          </a:xfrm>
          <a:prstGeom prst="rect">
            <a:avLst/>
          </a:prstGeom>
          <a:solidFill>
            <a:srgbClr val="2B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79" y="4160519"/>
            <a:ext cx="31546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2B7CB8"/>
                </a:solidFill>
                <a:latin typeface="Calibri"/>
              </a:rPr>
              <a:t>250+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79" y="4846319"/>
            <a:ext cx="31546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11827"/>
                </a:solidFill>
                <a:latin typeface="Calibri"/>
              </a:rPr>
              <a:t>автотестов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79" y="5303519"/>
            <a:ext cx="315468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модульные, API и сквозные тесты интерфейса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19" y="3977639"/>
            <a:ext cx="361188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46719" y="3977639"/>
            <a:ext cx="3611880" cy="64008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5319" y="4160519"/>
            <a:ext cx="31546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5803D"/>
                </a:solidFill>
                <a:latin typeface="Calibri"/>
              </a:rPr>
              <a:t>24/7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19" y="4846319"/>
            <a:ext cx="31546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11827"/>
                </a:solidFill>
                <a:latin typeface="Calibri"/>
              </a:rPr>
              <a:t>в продакшене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19" y="5303519"/>
            <a:ext cx="315468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сервер, домен, HTTPS, Telegram-бот, автоматическое выселение по истёкшим договорам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03153"/>
                </a:solidFill>
                <a:latin typeface="Calibri"/>
              </a:rPr>
              <a:t>Дорожная карта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822960" cy="45720"/>
          </a:xfrm>
          <a:prstGeom prst="rect">
            <a:avLst/>
          </a:prstGeom>
          <a:solidFill>
            <a:srgbClr val="2B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1556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Этап 1 завершён. Следующий шаг: студент заселяется сам через мобильное приложение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EDormitory by Naurizbek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965960"/>
            <a:ext cx="10515600" cy="54864"/>
          </a:xfrm>
          <a:prstGeom prst="rect">
            <a:avLst/>
          </a:prstGeom>
          <a:solidFill>
            <a:srgbClr val="CDD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45920" y="1737360"/>
            <a:ext cx="502920" cy="502920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1737360"/>
            <a:ext cx="5029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14600"/>
            <a:ext cx="26974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514600"/>
            <a:ext cx="2697480" cy="64008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97480"/>
            <a:ext cx="23774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5803D"/>
                </a:solidFill>
                <a:latin typeface="Calibri"/>
              </a:rPr>
              <a:t>Этап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090672"/>
            <a:ext cx="23774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B7280"/>
                </a:solidFill>
                <a:latin typeface="Calibri"/>
              </a:rPr>
              <a:t>Готово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20440"/>
            <a:ext cx="2377440" cy="1691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11827"/>
                </a:solidFill>
                <a:latin typeface="Calibri"/>
              </a:rPr>
              <a:t>Веб-платформа для администрации, мобильное приложение для сотрудников, Telegram-вход, отчёты, аудит</a:t>
            </a:r>
          </a:p>
        </p:txBody>
      </p:sp>
      <p:sp>
        <p:nvSpPr>
          <p:cNvPr id="16" name="Oval 15"/>
          <p:cNvSpPr/>
          <p:nvPr/>
        </p:nvSpPr>
        <p:spPr>
          <a:xfrm>
            <a:off x="4480560" y="1737360"/>
            <a:ext cx="502920" cy="502920"/>
          </a:xfrm>
          <a:prstGeom prst="ellipse">
            <a:avLst/>
          </a:prstGeom>
          <a:solidFill>
            <a:srgbClr val="2B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737360"/>
            <a:ext cx="5029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2514600"/>
            <a:ext cx="26974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83280" y="2514600"/>
            <a:ext cx="2697480" cy="64008"/>
          </a:xfrm>
          <a:prstGeom prst="rect">
            <a:avLst/>
          </a:prstGeom>
          <a:solidFill>
            <a:srgbClr val="2B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2697480"/>
            <a:ext cx="23774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B7CB8"/>
                </a:solidFill>
                <a:latin typeface="Calibri"/>
              </a:rPr>
              <a:t>Этап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090672"/>
            <a:ext cx="23774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B7280"/>
                </a:solidFill>
                <a:latin typeface="Calibri"/>
              </a:rPr>
              <a:t>4 квартал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520440"/>
            <a:ext cx="2377440" cy="1691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11827"/>
                </a:solidFill>
                <a:latin typeface="Calibri"/>
              </a:rPr>
              <a:t>Мобильное приложение студента: свободные места, бронирование комнаты, самостоятельное заселение по направлению, баланс и уведомления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0" y="1737360"/>
            <a:ext cx="502920" cy="502920"/>
          </a:xfrm>
          <a:prstGeom prst="ellipse">
            <a:avLst/>
          </a:prstGeom>
          <a:solidFill>
            <a:srgbClr val="2B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0" y="1737360"/>
            <a:ext cx="5029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514600"/>
            <a:ext cx="26974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2514600"/>
            <a:ext cx="2697480" cy="64008"/>
          </a:xfrm>
          <a:prstGeom prst="rect">
            <a:avLst/>
          </a:prstGeom>
          <a:solidFill>
            <a:srgbClr val="2B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697480"/>
            <a:ext cx="23774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B7CB8"/>
                </a:solidFill>
                <a:latin typeface="Calibri"/>
              </a:rPr>
              <a:t>Этап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090672"/>
            <a:ext cx="23774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B7280"/>
                </a:solidFill>
                <a:latin typeface="Calibri"/>
              </a:rPr>
              <a:t>1 полугодие 2027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520440"/>
            <a:ext cx="2377440" cy="1691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11827"/>
                </a:solidFill>
                <a:latin typeface="Calibri"/>
              </a:rPr>
              <a:t>Онлайн-оплата Payme, Click, Uzum. Интеграция с my.gov.uz и HEMIS: импорт студентов, автоматическая выгрузка свободных мест</a:t>
            </a:r>
          </a:p>
        </p:txBody>
      </p:sp>
      <p:sp>
        <p:nvSpPr>
          <p:cNvPr id="30" name="Oval 29"/>
          <p:cNvSpPr/>
          <p:nvPr/>
        </p:nvSpPr>
        <p:spPr>
          <a:xfrm>
            <a:off x="10149840" y="1737360"/>
            <a:ext cx="502920" cy="502920"/>
          </a:xfrm>
          <a:prstGeom prst="ellipse">
            <a:avLst/>
          </a:prstGeom>
          <a:solidFill>
            <a:srgbClr val="00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49840" y="1737360"/>
            <a:ext cx="5029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52560" y="2514600"/>
            <a:ext cx="26974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52560" y="2514600"/>
            <a:ext cx="2697480" cy="64008"/>
          </a:xfrm>
          <a:prstGeom prst="rect">
            <a:avLst/>
          </a:prstGeom>
          <a:solidFill>
            <a:srgbClr val="00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0" y="2697480"/>
            <a:ext cx="23774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03153"/>
                </a:solidFill>
                <a:latin typeface="Calibri"/>
              </a:rPr>
              <a:t>Этап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3090672"/>
            <a:ext cx="23774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B7280"/>
                </a:solidFill>
                <a:latin typeface="Calibri"/>
              </a:rPr>
              <a:t>2027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3520440"/>
            <a:ext cx="2377440" cy="1691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11827"/>
                </a:solidFill>
                <a:latin typeface="Calibri"/>
              </a:rPr>
              <a:t>Единый реестр общежитий для министерства: статистика по регионам, контроль субсидий, интеграция с 1С и СКУД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486400"/>
            <a:ext cx="11064240" cy="457200"/>
          </a:xfrm>
          <a:prstGeom prst="roundRect">
            <a:avLst>
              <a:gd name="adj" fmla="val 8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5486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03153"/>
                </a:solidFill>
                <a:latin typeface="Calibri"/>
              </a:rPr>
              <a:t>Сроки этапов 2-4 зависят от доступа к API государственных систем и выбора вуза для пилота.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03153"/>
                </a:solidFill>
                <a:latin typeface="Calibri"/>
              </a:rPr>
              <a:t>Модель внедрения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822960" cy="45720"/>
          </a:xfrm>
          <a:prstGeom prst="rect">
            <a:avLst/>
          </a:prstGeom>
          <a:solidFill>
            <a:srgbClr val="2B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1556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Пилот за один семестр, масштабирование без остановки работы общежитий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EDormitory by Naurizbek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3611880" cy="64008"/>
          </a:xfrm>
          <a:prstGeom prst="rect">
            <a:avLst/>
          </a:prstGeom>
          <a:solidFill>
            <a:srgbClr val="2B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2B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783080"/>
            <a:ext cx="260604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3153"/>
                </a:solidFill>
                <a:latin typeface="Calibri"/>
              </a:rPr>
              <a:t>Пилот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514600"/>
            <a:ext cx="315468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827"/>
                </a:solidFill>
                <a:latin typeface="Calibri"/>
              </a:rPr>
              <a:t>2-3 общежития одного вуза, 3 месяца. Перенос данных из Excel, обучение персонала за один день, поддержка на месте.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160020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79" y="1600200"/>
            <a:ext cx="3611880" cy="64008"/>
          </a:xfrm>
          <a:prstGeom prst="rect">
            <a:avLst/>
          </a:prstGeom>
          <a:solidFill>
            <a:srgbClr val="2B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26279" y="1828800"/>
            <a:ext cx="457200" cy="457200"/>
          </a:xfrm>
          <a:prstGeom prst="ellipse">
            <a:avLst/>
          </a:prstGeom>
          <a:solidFill>
            <a:srgbClr val="2B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79" y="182880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39" y="1783080"/>
            <a:ext cx="260604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3153"/>
                </a:solidFill>
                <a:latin typeface="Calibri"/>
              </a:rPr>
              <a:t>Оценка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79" y="2514600"/>
            <a:ext cx="315468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827"/>
                </a:solidFill>
                <a:latin typeface="Calibri"/>
              </a:rPr>
              <a:t>Сравнение с бумажным учётом: время заселения, собираемость оплаты, точность данных о свободных местах.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160020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19" y="1600200"/>
            <a:ext cx="3611880" cy="64008"/>
          </a:xfrm>
          <a:prstGeom prst="rect">
            <a:avLst/>
          </a:prstGeom>
          <a:solidFill>
            <a:srgbClr val="00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75319" y="1828800"/>
            <a:ext cx="457200" cy="457200"/>
          </a:xfrm>
          <a:prstGeom prst="ellipse">
            <a:avLst/>
          </a:prstGeom>
          <a:solidFill>
            <a:srgbClr val="00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19" y="182880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79" y="1783080"/>
            <a:ext cx="260604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3153"/>
                </a:solidFill>
                <a:latin typeface="Calibri"/>
              </a:rPr>
              <a:t>Масштабирование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19" y="2514600"/>
            <a:ext cx="315468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827"/>
                </a:solidFill>
                <a:latin typeface="Calibri"/>
              </a:rPr>
              <a:t>Подключение остальных вузов региона, интеграция с my.gov.uz и HEMIS, единая отчётность для министерства.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977639"/>
            <a:ext cx="1106424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977639"/>
            <a:ext cx="73152" cy="224028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114800"/>
            <a:ext cx="1060704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b="1" sz="1350">
                <a:solidFill>
                  <a:srgbClr val="003153"/>
                </a:solidFill>
                <a:latin typeface="Calibri"/>
              </a:rPr>
              <a:t>•  Для государственных вузов:</a:t>
            </a:r>
            <a:r>
              <a:rPr sz="1350">
                <a:solidFill>
                  <a:srgbClr val="111827"/>
                </a:solidFill>
                <a:latin typeface="Calibri"/>
              </a:rPr>
              <a:t> лицензия на вуз или централизованная закупка министерством, данные размещаются на серверах заказчика.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b="1" sz="1350">
                <a:solidFill>
                  <a:srgbClr val="003153"/>
                </a:solidFill>
                <a:latin typeface="Calibri"/>
              </a:rPr>
              <a:t>•  Для частных вузов и общежитий:</a:t>
            </a:r>
            <a:r>
              <a:rPr sz="1350">
                <a:solidFill>
                  <a:srgbClr val="111827"/>
                </a:solidFill>
                <a:latin typeface="Calibri"/>
              </a:rPr>
              <a:t> подписка за общежитие в месяц, облачная версия, запуск за один день.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b="1" sz="1350">
                <a:solidFill>
                  <a:srgbClr val="003153"/>
                </a:solidFill>
                <a:latin typeface="Calibri"/>
              </a:rPr>
              <a:t>•  Для студентов:</a:t>
            </a:r>
            <a:r>
              <a:rPr sz="1350">
                <a:solidFill>
                  <a:srgbClr val="111827"/>
                </a:solidFill>
                <a:latin typeface="Calibri"/>
              </a:rPr>
              <a:t> приложение бесплатно.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b="1" sz="1350">
                <a:solidFill>
                  <a:srgbClr val="003153"/>
                </a:solidFill>
                <a:latin typeface="Calibri"/>
              </a:rPr>
              <a:t>•  Поддержка:</a:t>
            </a:r>
            <a:r>
              <a:rPr sz="1350">
                <a:solidFill>
                  <a:srgbClr val="111827"/>
                </a:solidFill>
                <a:latin typeface="Calibri"/>
              </a:rPr>
              <a:t> обновления, обучение новых сотрудников и консультации входят в стоимость.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03153"/>
                </a:solidFill>
                <a:latin typeface="Calibri"/>
              </a:rPr>
              <a:t>Команда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822960" cy="45720"/>
          </a:xfrm>
          <a:prstGeom prst="rect">
            <a:avLst/>
          </a:prstGeom>
          <a:solidFill>
            <a:srgbClr val="2B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1556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Продукт создан и доведён до продакшена одним разработчиком, что подтверждает низкую стоимость сопровождения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EDormitory by Naurizbek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11064240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73152" cy="2834640"/>
          </a:xfrm>
          <a:prstGeom prst="rect">
            <a:avLst/>
          </a:prstGeom>
          <a:solidFill>
            <a:srgbClr val="00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2011680"/>
            <a:ext cx="2011680" cy="2011680"/>
          </a:xfrm>
          <a:prstGeom prst="ellipse">
            <a:avLst/>
          </a:prstGeom>
          <a:solidFill>
            <a:srgbClr val="00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2011680" cy="2011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НБ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874519"/>
            <a:ext cx="78638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03153"/>
                </a:solidFill>
                <a:latin typeface="Calibri"/>
              </a:rPr>
              <a:t>Наврузбек Бегимбаев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377440"/>
            <a:ext cx="78638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Основатель, архитектор и разработчик EDormitory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834640"/>
            <a:ext cx="786384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250">
                <a:solidFill>
                  <a:srgbClr val="111827"/>
                </a:solidFill>
                <a:latin typeface="Calibri"/>
              </a:rPr>
              <a:t>•  Полный цикл разработки: backend (Python, Django), веб (React), мобильные приложения (Flutter), инфраструктура и деплой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250">
                <a:solidFill>
                  <a:srgbClr val="111827"/>
                </a:solidFill>
                <a:latin typeface="Calibri"/>
              </a:rPr>
              <a:t>•  Система спроектирована на основе реальных задач комендантов и бухгалтерии общежития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250">
                <a:solidFill>
                  <a:srgbClr val="111827"/>
                </a:solidFill>
                <a:latin typeface="Calibri"/>
              </a:rPr>
              <a:t>•  Контакты: nbegimbaev2006@gmail.com, begimbaev-dormitory.uk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663440"/>
            <a:ext cx="11064240" cy="1554480"/>
          </a:xfrm>
          <a:prstGeom prst="roundRect">
            <a:avLst>
              <a:gd name="adj" fmla="val 8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663440"/>
            <a:ext cx="73152" cy="1554480"/>
          </a:xfrm>
          <a:prstGeom prst="rect">
            <a:avLst/>
          </a:prstGeom>
          <a:solidFill>
            <a:srgbClr val="2B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754880"/>
            <a:ext cx="106070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3153"/>
                </a:solidFill>
                <a:latin typeface="Calibri"/>
              </a:rPr>
              <a:t>Для пилота планируется привлечь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0640"/>
            <a:ext cx="1060704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250">
                <a:solidFill>
                  <a:srgbClr val="111827"/>
                </a:solidFill>
                <a:latin typeface="Calibri"/>
              </a:rPr>
              <a:t>•  специалиста по внедрению и обучению персонала общежитий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250">
                <a:solidFill>
                  <a:srgbClr val="111827"/>
                </a:solidFill>
                <a:latin typeface="Calibri"/>
              </a:rPr>
              <a:t>•  разработчика мобильного приложения студента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250">
                <a:solidFill>
                  <a:srgbClr val="111827"/>
                </a:solidFill>
                <a:latin typeface="Calibri"/>
              </a:rPr>
              <a:t>•  методическую поддержку со стороны министерства и вуза-партнёра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03153"/>
                </a:solidFill>
                <a:latin typeface="Calibri"/>
              </a:rPr>
              <a:t>Что мы просим у министерства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822960" cy="45720"/>
          </a:xfrm>
          <a:prstGeom prst="rect">
            <a:avLst/>
          </a:prstGeom>
          <a:solidFill>
            <a:srgbClr val="2B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1556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Три шага, чтобы за один семестр проверить систему на практике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EDormitory by Naurizbek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3611880" cy="64008"/>
          </a:xfrm>
          <a:prstGeom prst="rect">
            <a:avLst/>
          </a:prstGeom>
          <a:solidFill>
            <a:srgbClr val="00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00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783080"/>
            <a:ext cx="260604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3153"/>
                </a:solidFill>
                <a:latin typeface="Calibri"/>
              </a:rPr>
              <a:t>Пилотный проект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514600"/>
            <a:ext cx="315468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827"/>
                </a:solidFill>
                <a:latin typeface="Calibri"/>
              </a:rPr>
              <a:t>Определить 1-2 вуза и 2-3 общежития для пилота на один семестр. Внедрение и сопровождение пилота берём на себя.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160020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79" y="1600200"/>
            <a:ext cx="3611880" cy="64008"/>
          </a:xfrm>
          <a:prstGeom prst="rect">
            <a:avLst/>
          </a:prstGeom>
          <a:solidFill>
            <a:srgbClr val="00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26279" y="1828800"/>
            <a:ext cx="457200" cy="457200"/>
          </a:xfrm>
          <a:prstGeom prst="ellipse">
            <a:avLst/>
          </a:prstGeom>
          <a:solidFill>
            <a:srgbClr val="00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79" y="182880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39" y="1783080"/>
            <a:ext cx="260604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3153"/>
                </a:solidFill>
                <a:latin typeface="Calibri"/>
              </a:rPr>
              <a:t>Доступ к интеграциям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79" y="2514600"/>
            <a:ext cx="315468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827"/>
                </a:solidFill>
                <a:latin typeface="Calibri"/>
              </a:rPr>
              <a:t>Технический доступ к API my.gov.uz и HEMIS для импорта направлений и студентов и автоматической выгрузки свободных мест.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160020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19" y="1600200"/>
            <a:ext cx="3611880" cy="64008"/>
          </a:xfrm>
          <a:prstGeom prst="rect">
            <a:avLst/>
          </a:prstGeom>
          <a:solidFill>
            <a:srgbClr val="00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75319" y="1828800"/>
            <a:ext cx="457200" cy="457200"/>
          </a:xfrm>
          <a:prstGeom prst="ellipse">
            <a:avLst/>
          </a:prstGeom>
          <a:solidFill>
            <a:srgbClr val="00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19" y="182880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79" y="1783080"/>
            <a:ext cx="260604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3153"/>
                </a:solidFill>
                <a:latin typeface="Calibri"/>
              </a:rPr>
              <a:t>Методическая поддержка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19" y="2514600"/>
            <a:ext cx="315468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827"/>
                </a:solidFill>
                <a:latin typeface="Calibri"/>
              </a:rPr>
              <a:t>Утверждённые формы отчётности по общежитиям, чтобы система формировала их автоматически в нужном виде.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886200"/>
            <a:ext cx="11064240" cy="1737360"/>
          </a:xfrm>
          <a:prstGeom prst="roundRect">
            <a:avLst>
              <a:gd name="adj" fmla="val 8000"/>
            </a:avLst>
          </a:prstGeom>
          <a:solidFill>
            <a:srgbClr val="00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023360"/>
            <a:ext cx="103327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C7D9EA"/>
                </a:solidFill>
                <a:latin typeface="Calibri"/>
              </a:rPr>
              <a:t>Результат пилота через 3 месяца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480560"/>
            <a:ext cx="1033272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•  Заселение за минуты вместо дней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•  Точные данные о свободных местах в министерстве каждый день, без ручных отчётов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•  Прозрачная оплата и долги по каждому студенту, затем масштабирование на регион и страну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1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1828800"/>
            <a:ext cx="7315200" cy="7315200"/>
          </a:xfrm>
          <a:prstGeom prst="ellipse">
            <a:avLst/>
          </a:prstGeom>
          <a:solidFill>
            <a:srgbClr val="0A4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0584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Calibri"/>
              </a:rPr>
              <a:t>Спасибо за внимание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0584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C7D9EA"/>
                </a:solidFill>
                <a:latin typeface="Calibri"/>
              </a:rPr>
              <a:t>Готовы показать систему вживую и начать пилот в этом семестре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023360"/>
            <a:ext cx="914400" cy="45720"/>
          </a:xfrm>
          <a:prstGeom prst="rect">
            <a:avLst/>
          </a:prstGeom>
          <a:solidFill>
            <a:srgbClr val="2B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100584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Наврузбек Бегимбаев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617720"/>
            <a:ext cx="100584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C7D9EA"/>
                </a:solidFill>
                <a:latin typeface="Calibri"/>
              </a:rPr>
              <a:t>nbegimbaev2006@gmail.com   ·   https://begimbaev-dormitory.uk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29200"/>
            <a:ext cx="100584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FBBD3"/>
                </a:solidFill>
                <a:latin typeface="Calibri"/>
              </a:rPr>
              <a:t>EDormitory by Naurizbek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